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2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10972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457200"/>
            <a:ext cx="2926080" cy="2926080"/>
          </a:xfrm>
          <a:prstGeom prst="ellipse">
            <a:avLst/>
          </a:prstGeom>
          <a:solidFill>
            <a:srgbClr val="2D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-457200"/>
            <a:ext cx="2926080" cy="2926080"/>
          </a:xfrm>
          <a:prstGeom prst="ellipse">
            <a:avLst/>
          </a:prstGeom>
          <a:solidFill>
            <a:srgbClr val="2D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⚙️  Instrumentation 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5D8F0"/>
                </a:solidFill>
                <a:latin typeface="Calibri"/>
              </a:rPr>
              <a:t>Automated Engineering Document Generator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80360"/>
            <a:ext cx="5486400" cy="4572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E"/>
                </a:solidFill>
                <a:latin typeface="Calibri"/>
              </a:rPr>
              <a:t>From raw IODB data to fully formatted engineering documents — in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8CC"/>
                </a:solidFill>
                <a:latin typeface="Calibri"/>
              </a:rPr>
              <a:t>Internal Technical Presentation   |   April 2026   |   Developed by Instrumentation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257800"/>
            <a:ext cx="210312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Instrument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5257800"/>
            <a:ext cx="210312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I/O 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5257800"/>
            <a:ext cx="210312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Sheet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5257800"/>
            <a:ext cx="210312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Cable Schedule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5257800"/>
            <a:ext cx="210312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Loop Wiring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Engineering teams waste hundreds of hours on repetitive document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49039" cy="7315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📋  Manual Data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Copy-paste from IODB to each template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High risk of transcription errors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No consistency across documents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Version control nightmares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4903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49039" cy="7315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⏳  Time Drain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74519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1 datasheet = 15–30 minutes manually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100 instruments = ~3 weeks of effort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Delays downstream review &amp; approvals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Engineers tied up in admin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🔄  No Reusability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Templates re-created from scratch per project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Format inconsistencies between team members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No single source of truth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556575"/>
                </a:solidFill>
                <a:latin typeface="Calibri"/>
              </a:rPr>
              <a:t>▸  Rework on every minor IODB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5D8F0"/>
                </a:solidFill>
                <a:latin typeface="Calibri"/>
              </a:rPr>
              <a:t>Industry benchmark: A 100-instrument project requires ~300 person-hours of document preparation  |  Error rate in manual entry: up to 12% (source: internal audit)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 — Instrumentation 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A one-click, web-based document automation platform built for instrumentation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  <a:latin typeface="Calibri"/>
              </a:rPr>
              <a:t>Upload your IODB.  Choose your module.  Download perfect documents.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783080"/>
            <a:ext cx="1005840" cy="1005840"/>
          </a:xfrm>
          <a:prstGeom prst="ellipse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0779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Upload IODB
Source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Single Excel file
drives all 5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176272"/>
            <a:ext cx="502920" cy="9144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084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63A8"/>
                </a:solidFill>
                <a:latin typeface="Calibri"/>
              </a:rPr>
              <a:t>▶</a:t>
            </a:r>
          </a:p>
        </p:txBody>
      </p:sp>
      <p:sp>
        <p:nvSpPr>
          <p:cNvPr id="13" name="Oval 12"/>
          <p:cNvSpPr/>
          <p:nvPr/>
        </p:nvSpPr>
        <p:spPr>
          <a:xfrm>
            <a:off x="3273552" y="1783080"/>
            <a:ext cx="1005840" cy="1005840"/>
          </a:xfrm>
          <a:prstGeom prst="ellipse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81051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90779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Choose
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4930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Select what you
need to generate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2176272"/>
            <a:ext cx="502920" cy="9144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084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63A8"/>
                </a:solidFill>
                <a:latin typeface="Calibri"/>
              </a:rPr>
              <a:t>▶</a:t>
            </a:r>
          </a:p>
        </p:txBody>
      </p:sp>
      <p:sp>
        <p:nvSpPr>
          <p:cNvPr id="19" name="Oval 18"/>
          <p:cNvSpPr/>
          <p:nvPr/>
        </p:nvSpPr>
        <p:spPr>
          <a:xfrm>
            <a:off x="5541264" y="1783080"/>
            <a:ext cx="1005840" cy="1005840"/>
          </a:xfrm>
          <a:prstGeom prst="ellipse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181051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90779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Configure
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34930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Pick tags, columns,
or JB 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84264" y="2176272"/>
            <a:ext cx="502920" cy="9144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2084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63A8"/>
                </a:solidFill>
                <a:latin typeface="Calibri"/>
              </a:rPr>
              <a:t>▶</a:t>
            </a:r>
          </a:p>
        </p:txBody>
      </p:sp>
      <p:sp>
        <p:nvSpPr>
          <p:cNvPr id="25" name="Oval 24"/>
          <p:cNvSpPr/>
          <p:nvPr/>
        </p:nvSpPr>
        <p:spPr>
          <a:xfrm>
            <a:off x="7808975" y="1783080"/>
            <a:ext cx="1005840" cy="1005840"/>
          </a:xfrm>
          <a:prstGeom prst="ellipse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08975" y="181051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290779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Click
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34930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One button triggers
full automation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1976" y="2176272"/>
            <a:ext cx="502920" cy="9144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2084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63A8"/>
                </a:solidFill>
                <a:latin typeface="Calibri"/>
              </a:rPr>
              <a:t>▶</a:t>
            </a:r>
          </a:p>
        </p:txBody>
      </p:sp>
      <p:sp>
        <p:nvSpPr>
          <p:cNvPr id="31" name="Oval 30"/>
          <p:cNvSpPr/>
          <p:nvPr/>
        </p:nvSpPr>
        <p:spPr>
          <a:xfrm>
            <a:off x="10076688" y="1783080"/>
            <a:ext cx="1005840" cy="1005840"/>
          </a:xfrm>
          <a:prstGeom prst="ellipse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688" y="1810512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290779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Download
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34930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Ready-to-use
formatted Excel 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97680"/>
            <a:ext cx="11457432" cy="4572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48056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480560"/>
            <a:ext cx="265176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537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🏎️  Fast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983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Seconds instead of days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448056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4480560"/>
            <a:ext cx="265176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45537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✅  Accurate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983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Zero transcription errors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48056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480560"/>
            <a:ext cx="265176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45537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🎨  Formatted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4983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Preserves all template styles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48056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480560"/>
            <a:ext cx="265176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62288" y="45537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🔁  Reusable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4983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Same tool across every project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Built on proven, lightweight open-source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43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 &amp;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64208"/>
            <a:ext cx="2523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Streamlit 1.56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Custom CSS with gradient theme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Session-state file caching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Progress bars &amp; live preview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Responsive wide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143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64208"/>
            <a:ext cx="2523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Python 3.14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pandas — IODB reading &amp; transformation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openpyxl 3.x — Excel read/write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Pillow — image handling in templates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Natural sort (natsort) for JB ordering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9728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97280"/>
            <a:ext cx="2743200" cy="45720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43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Document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664208"/>
            <a:ext cx="2523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Template-preserving copy_worksheet()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ZIP-level drawing XML injection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Formula detection &amp; preservation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Auto header-row detection (rows 0–10)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Fuzzy column name 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09728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097280"/>
            <a:ext cx="27432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143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DevOps &amp;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664208"/>
            <a:ext cx="2523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Git / GitHub (version control)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Python virtualenv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Runs locally or on any server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Streamlit Community Cloud ready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56575"/>
                </a:solidFill>
                <a:latin typeface="Calibri"/>
              </a:rPr>
              <a:t>◆  No database — zero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Three-layer design: UI → Processing → Document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371600" cy="111556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435608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216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main.py  —  Streamlit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645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Module routing / file upload widgets / progress bars / download buttons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2768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A8"/>
                </a:solidFill>
                <a:latin typeface="Calibri"/>
              </a:rPr>
              <a:t>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1371600" cy="111556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2761488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BUSINESS LOGIC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42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utils/template_processor.py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71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Orchestrates file reading, data prep, and hands off to generators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027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A8"/>
                </a:solidFill>
                <a:latin typeface="Calibri"/>
              </a:rPr>
              <a:t>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114300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1371600" cy="111556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4087368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67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utils/file_handler.py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97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Robust Excel ingestion: auto-sheet detect, header-row probe, Content_Types 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9286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A8"/>
                </a:solidFill>
                <a:latin typeface="Calibri"/>
              </a:rPr>
              <a:t>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20640"/>
            <a:ext cx="114300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1371600" cy="11155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5413248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GENERATION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1937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utils/generators.py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62355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  <a:latin typeface="Calibri"/>
              </a:rPr>
              <a:t>5 generators: Instrument List · I/O List · Datasheets · Cable Schedule · Loop Wiring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63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A8"/>
                </a:solidFill>
                <a:latin typeface="Calibri"/>
              </a:rPr>
              <a:t>INPUT:  IODB.xlsx + Template.xlsx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26364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A5A"/>
                </a:solidFill>
                <a:latin typeface="Calibri"/>
              </a:rPr>
              <a:t>OUTPUT:  Instrument_List.xlsx  /  Datasheets.zip  /  Loop_Wiring.xlsx  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1 — Instrument List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Export any combination of IODB columns as a clean, formatted Excel instrument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Reads all columns from the IODB source file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User selects which columns to include via multi-select UI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Exports a formatted Excel file with only the chosen columns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Column order matches user selection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Auto-drops fully-empty rows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One-click download → Instrument_List.xlsx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5852160" cy="41148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Engineering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5669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Replaces manual copy-paste from IODB to list template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Engineers get a clean list in &lt; 5 seconds vs. 1–2 hours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Consistent column naming across all projects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Used as input for procurement, hook-up, and commissioning teams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Eliminates omission errors (every tag from IODB is included)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Fully re-runnable — re-generate whenever IODB is updated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⚙️  Inputs: IODB.xlsx    →    Output: Instrument_List.xlsx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2 — I/O List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Auto-suggest I/O-relevant columns and export a DCS/PLC-ready I/O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Reads IODB source file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Auto-suggests columns relevant to I/O (signal, rack, slot, channel, type, loop…)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Engineer adjusts the selection via multiselect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Generates formatted Excel I/O List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Preview available before export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One-click download → IO_List.xlsx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5852160" cy="41148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Engineering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5669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Direct input to DCS / PLC engineers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Correct signal type and channel mapping from a single source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No risk of I/O count discrepancy between documents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Replaces semi-automated extraction that took 4–8 hours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Deliverable ready in seconds for any design revision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Supports any IODB schema — fully column-agnostic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⚙️  Inputs: IODB.xlsx    →    Output: IO_List.xlsx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3 — Data Sheet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Generate one fully-formatted instrument datasheet per tag — preserving template layout exactly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Generation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b="1" sz="1300">
                <a:solidFill>
                  <a:srgbClr val="1A3A5C"/>
                </a:solidFill>
                <a:latin typeface="Calibri"/>
              </a:rPr>
              <a:t>1. Template Load:  </a:t>
            </a:r>
            <a:r>
              <a:rPr sz="1200">
                <a:solidFill>
                  <a:srgbClr val="556575"/>
                </a:solidFill>
                <a:latin typeface="Calibri"/>
              </a:rPr>
              <a:t>Reads 'Annexure' sheet from the provided template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1A3A5C"/>
                </a:solidFill>
                <a:latin typeface="Calibri"/>
              </a:rPr>
              <a:t>2. Spatial Mapping:  </a:t>
            </a:r>
            <a:r>
              <a:rPr sz="1200">
                <a:solidFill>
                  <a:srgbClr val="556575"/>
                </a:solidFill>
                <a:latin typeface="Calibri"/>
              </a:rPr>
              <a:t>Maps template labels → IODB column names using fuzzy matching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1A3A5C"/>
                </a:solidFill>
                <a:latin typeface="Calibri"/>
              </a:rPr>
              <a:t>3. Per-Tag Fill:  </a:t>
            </a:r>
            <a:r>
              <a:rPr sz="1200">
                <a:solidFill>
                  <a:srgbClr val="556575"/>
                </a:solidFill>
                <a:latin typeface="Calibri"/>
              </a:rPr>
              <a:t>For each selected tag, copies template and fills matched cells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1A3A5C"/>
                </a:solidFill>
                <a:latin typeface="Calibri"/>
              </a:rPr>
              <a:t>4. Formula Guard:  </a:t>
            </a:r>
            <a:r>
              <a:rPr sz="1200">
                <a:solidFill>
                  <a:srgbClr val="556575"/>
                </a:solidFill>
                <a:latin typeface="Calibri"/>
              </a:rPr>
              <a:t>Skips any cell containing a formula — never overwrites logic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1A3A5C"/>
                </a:solidFill>
                <a:latin typeface="Calibri"/>
              </a:rPr>
              <a:t>5. TBA Safety Net:  </a:t>
            </a:r>
            <a:r>
              <a:rPr sz="1200">
                <a:solidFill>
                  <a:srgbClr val="556575"/>
                </a:solidFill>
                <a:latin typeface="Calibri"/>
              </a:rPr>
              <a:t>Writes 'TBA' for any IODB value that is empty or NaN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1A3A5C"/>
                </a:solidFill>
                <a:latin typeface="Calibri"/>
              </a:rPr>
              <a:t>6. ZIP Output:  </a:t>
            </a:r>
            <a:r>
              <a:rPr sz="1200">
                <a:solidFill>
                  <a:srgbClr val="556575"/>
                </a:solidFill>
                <a:latin typeface="Calibri"/>
              </a:rPr>
              <a:t>Packages all datasheets → Datasheets.zip for download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852160" cy="41148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Smart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00200"/>
            <a:ext cx="5669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Fuzzy label matching — 'Line Size (NB)' matches 'line size' in IODB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Spatial layout mapping — finds labels anywhere in the sheet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Works with ANY datasheet template format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Preserves merged cells, borders, and formatting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Batch generation: select all tags with one checkbox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Progress bar showing per-tag live status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Output: one .xlsx per tag, all zipped for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⚙️  Inputs: IODB.xlsx + Datasheet Template.xlsx    →    Output: Datasheets.zip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4 — Cable Schedule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Group by Junction Box, apply natural sort, pad SPAREs, and fill the cable schedule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Processing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Reads IODB and groups instruments by Junction Box (JB)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Filters out rows where JB = '-' (unassigned)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Sorts tags within each JB using natural sort (1,2,10 not 1,10,2)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Pads each group to 12 rows by adding SPARE entries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Matches IODB columns → template headers dynamically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Preserves all template formatting, borders, and row heights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Compacts output — removes blank spacer rows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Adjusts Excel formula row references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5852160" cy="411480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Engineering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5669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Cable schedule is a critical deliverable for field installation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JB-by-JB grouping directly mirrors field wiring organisation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SPARE rows allow for field changes without document rework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Eliminates formula breakage caused by row insertions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Arial 12 centre-wrap formatting applied consistently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Reduces a 2–3 day task to under 30 seconds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Output: Cable_Schedule.xlsx ready for IFC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⚙️  Inputs: IODB.xlsx + Cable Schedule Template.xlsx    →    Output: Cable_Schedule.xlsx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5 — Loop Wiring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One fully-formatted loop sheet per tag — shapes, lines, and formulas fully preserved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Processing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Reads Loop Wiring Input file (tag list with instrument data)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Finds 'AI Instr' template sheet (tolerant name matching)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Reads column headers from Row 18, Columns W → AR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For each tag: copy_worksheet() duplicates the full template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Fills Row 19 (W→AR) with matched values from input file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Skips any cell containing a formula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Writes 'TBA' for any empty / missing value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Sheet named Loop_&lt;TagNumber&gt; per instrument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5852160" cy="41148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Technical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5669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copy_worksheet() preserves ALL openpyxl-native shapes &amp; styles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ZIP-level drawing XML injection preserves complex connectors,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  lines, and text-boxes that openpyxl cannot round-trip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Tolerant sheet-name matching: 'AI-INST ' = 'AI Instr'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Tag column fuzzy detection: 'Tag_nummber', 'Tag No', etc.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All 5 modules share one IODB upload — no re-uploading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Output: Loop_Wiring.xlsx — one sheet per instrument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  <a:latin typeface="Calibri"/>
              </a:rPr>
              <a:t>⚙️  Inputs: Loop Wiring Input.xlsx + LW Template.xlsx    →    Output: Loop_Wiring.xlsx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Technical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Engineering challenges solved behind the scenes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7315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🔍 Fuzzy Column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3736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  <a:latin typeface="Calibri"/>
              </a:rPr>
              <a:t>IODB column names vary across projects. The engine normalises both template labels and IODB headers (lowercase, strip, substring) so 'LINE SIZE (NB)' auto-maps to 'line size' — zero manual mapping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73152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618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📄 Auto Sheet &amp; Header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3736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  <a:latin typeface="Calibri"/>
              </a:rPr>
              <a:t>The IODB reader probes header rows 0–10 across all sheets, scoring candidates by tag-column presence and non-empty column count. Works even when data starts on row 5 or the sheet has a non-standard 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1430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143000"/>
            <a:ext cx="3749039" cy="7315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2618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🛡️ Formula Preservation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173736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  <a:latin typeface="Calibri"/>
              </a:rPr>
              <a:t>Every generator checks if a cell's current value starts with '='. If so, it is never overwritten — calculations in templates remain intact and continue to resolve correctly in Excel.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49039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3749039" cy="73152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867911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🗜️ ZIP-Level Drawing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34340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  <a:latin typeface="Calibri"/>
              </a:rPr>
              <a:t>openpyxl cannot round-trip complex drawings (connectors, text-boxes). The Loop Wiring generator injects drawing XML directly into the output ZIP after save — all shapes appear perfectly on every generated sheet.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749039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749039"/>
            <a:ext cx="3749039" cy="73152"/>
          </a:xfrm>
          <a:prstGeom prst="rect">
            <a:avLst/>
          </a:prstGeom>
          <a:solidFill>
            <a:srgbClr val="0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867911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🔧 Content_Types.xml Auto-Repair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34340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  <a:latin typeface="Calibri"/>
              </a:rPr>
              <a:t>Some templates are missing or have corrupted [Content_Types].xml. The loader synthesises a valid one from the ZIP manifest — so no template ever fails to open, even if Excel 'repaired'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749039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749039"/>
            <a:ext cx="3749039" cy="73152"/>
          </a:xfrm>
          <a:prstGeom prst="rect">
            <a:avLst/>
          </a:prstGeom>
          <a:solidFill>
            <a:srgbClr val="B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7" y="3867911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📌 Session-State File Caching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7" y="434340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  <a:latin typeface="Calibri"/>
              </a:rPr>
              <a:t>Uploaded files are stored in Streamlit session state — switching between modules does not lose uploaded data. A Clear button removes any cached file when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Before vs After —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Measurable time savings and quality improvement across all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394960" cy="45720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   BEFORE  —  Manual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166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E86A10"/>
                </a:solidFill>
                <a:latin typeface="Calibri"/>
              </a:rPr>
              <a:t>Instrument List  |  3–4 hours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Copy-paste columns from IODB → template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A10"/>
                </a:solidFill>
                <a:latin typeface="Calibri"/>
              </a:rPr>
              <a:t>I/O List  |  4–6 hours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Extract and reformat I/O data manually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A10"/>
                </a:solidFill>
                <a:latin typeface="Calibri"/>
              </a:rPr>
              <a:t>Data Sheets  |  15–30 min / tag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Fill each field from IODB reference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A10"/>
                </a:solidFill>
                <a:latin typeface="Calibri"/>
              </a:rPr>
              <a:t>Cable Schedule  |  1–2 days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Group by JB, sort, fill rows, format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A10"/>
                </a:solidFill>
                <a:latin typeface="Calibri"/>
              </a:rPr>
              <a:t>Loop Wiring  |  30–60 min / tag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Duplicate template sheet and fill data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A10"/>
                </a:solidFill>
                <a:latin typeface="Calibri"/>
              </a:rPr>
              <a:t>Total (100 tags)  |  ~3 weeks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Plus rework for every IODB revision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097280"/>
            <a:ext cx="5760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097280"/>
            <a:ext cx="5760720" cy="45720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 AFTER  —  Instrumentation 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1B8A5A"/>
                </a:solidFill>
                <a:latin typeface="Calibri"/>
              </a:rPr>
              <a:t>Instrument List  |  &lt; 5 seconds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Select columns → download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B8A5A"/>
                </a:solidFill>
                <a:latin typeface="Calibri"/>
              </a:rPr>
              <a:t>I/O List  |  &lt; 5 seconds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Auto-suggested columns → download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B8A5A"/>
                </a:solidFill>
                <a:latin typeface="Calibri"/>
              </a:rPr>
              <a:t>Data Sheets  |  ~2 sec / tag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Batch select all → ZIP download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B8A5A"/>
                </a:solidFill>
                <a:latin typeface="Calibri"/>
              </a:rPr>
              <a:t>Cable Schedule  |  &lt; 30 seconds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Auto-group, sort, pad, format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B8A5A"/>
                </a:solidFill>
                <a:latin typeface="Calibri"/>
              </a:rPr>
              <a:t>Loop Wiring  |  ~3 sec / tag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Template copy, fill, preserve shapes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B8A5A"/>
                </a:solidFill>
                <a:latin typeface="Calibri"/>
              </a:rPr>
              <a:t>Total (100 tags)  |  &lt; 10 minutes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556575"/>
                </a:solidFill>
                <a:latin typeface="Calibri"/>
              </a:rPr>
              <a:t>     Re-run instantly on any IODB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175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  <a:latin typeface="Calibri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Quantified savings across a typical 200-instrument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697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697480" cy="6400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563A8"/>
                </a:solidFill>
                <a:latin typeface="Calibri"/>
              </a:rPr>
              <a:t>&gt;95%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Time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6148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Document prep time reduced
from weeks to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43000"/>
            <a:ext cx="2697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43000"/>
            <a:ext cx="269748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9844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B8A5A"/>
                </a:solidFill>
                <a:latin typeface="Calibri"/>
              </a:rPr>
              <a:t>~0%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317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Transcription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6148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Automated fill eliminates
manual copy-paste mistakes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43000"/>
            <a:ext cx="2697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2697480" cy="640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9844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86A10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317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Template Fidelity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6148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All formatting, formulas, and
shapes fully preserved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143000"/>
            <a:ext cx="2697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143000"/>
            <a:ext cx="2697480" cy="64008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29844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B35AF"/>
                </a:solidFill>
                <a:latin typeface="Calibri"/>
              </a:rPr>
              <a:t>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3317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Re-Runs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6148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5"/>
                </a:solidFill>
                <a:latin typeface="Calibri"/>
              </a:rPr>
              <a:t>Re-generate any document
instantly on IODB 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94760"/>
            <a:ext cx="114757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Manual Effort (100 instr.)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Tool Effort (100 instr.)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822191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Hours Saved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87952"/>
            <a:ext cx="11475720" cy="34747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1538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Instrument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21538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3–4 hrs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1538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&lt; 0.01 hrs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15384"/>
            <a:ext cx="2331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~3.5 hrs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35424"/>
            <a:ext cx="11475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56285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I/O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5628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4–6 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5628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&lt; 0.01 hrs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562856"/>
            <a:ext cx="2331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~5 hrs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82896"/>
            <a:ext cx="11475720" cy="34747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9103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Data Sheets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49103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50–80 hrs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9103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&lt; 1 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910328"/>
            <a:ext cx="2331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~65 hrs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230368"/>
            <a:ext cx="11475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25780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Cable Schedule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52578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16–24 hrs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2578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&lt; 0.1 hrs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257800"/>
            <a:ext cx="2331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~20 hrs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577840"/>
            <a:ext cx="11475720" cy="34747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60527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Loop Wiring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6052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50–100 hrs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6052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&lt; 1 hr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5605272"/>
            <a:ext cx="2331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Calibri"/>
              </a:rPr>
              <a:t>~75 hrs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925312"/>
            <a:ext cx="11475720" cy="347472"/>
          </a:xfrm>
          <a:prstGeom prst="rect">
            <a:avLst/>
          </a:prstGeom>
          <a:solidFill>
            <a:srgbClr val="E8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95274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TOTAL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80" y="59527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~120–200 hrs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9527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~2 hrs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952744"/>
            <a:ext cx="2331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~170 hrs saved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User Interface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Clean, no-training-required web interface accessible in any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286000" cy="5074920"/>
          </a:xfrm>
          <a:prstGeom prst="rect">
            <a:avLst/>
          </a:prstGeom>
          <a:solidFill>
            <a:srgbClr val="26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70432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⚙️ Instrumentation 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276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── Module ──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938528"/>
            <a:ext cx="2194560" cy="4572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7510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🗂️  Instrument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487168"/>
            <a:ext cx="2194560" cy="457200"/>
          </a:xfrm>
          <a:prstGeom prst="rect">
            <a:avLst/>
          </a:prstGeom>
          <a:solidFill>
            <a:srgbClr val="26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2374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🔌  I/O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035808"/>
            <a:ext cx="2194560" cy="457200"/>
          </a:xfrm>
          <a:prstGeom prst="rect">
            <a:avLst/>
          </a:prstGeom>
          <a:solidFill>
            <a:srgbClr val="26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7238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📄  Data Sheet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584448"/>
            <a:ext cx="2194560" cy="457200"/>
          </a:xfrm>
          <a:prstGeom prst="rect">
            <a:avLst/>
          </a:prstGeom>
          <a:solidFill>
            <a:srgbClr val="26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62102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🔗  Cable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133087"/>
            <a:ext cx="2194560" cy="457200"/>
          </a:xfrm>
          <a:prstGeom prst="rect">
            <a:avLst/>
          </a:prstGeom>
          <a:solidFill>
            <a:srgbClr val="26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6966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🔄  Loop Wiring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75488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D8F0"/>
                </a:solidFill>
                <a:latin typeface="Calibri"/>
              </a:rPr>
              <a:t>📂 Loaded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07492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✅ IODB Source: IODB.xlsx
v1.0.0 · Built with Streamlit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1097280"/>
            <a:ext cx="91897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7480" y="1097280"/>
            <a:ext cx="9189720" cy="502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1430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🗂️ Instrument List 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  <a:latin typeface="Calibri"/>
              </a:rPr>
              <a:t>📊 Upload IODB Source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1993392"/>
            <a:ext cx="4114800" cy="475488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0299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  <a:latin typeface="Calibri"/>
              </a:rPr>
              <a:t>✅ Using: IODB.xlsx   [✕]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606040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  <a:latin typeface="Calibri"/>
              </a:rPr>
              <a:t>📋 Column Selection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944368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7792" y="29809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TAG 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912" y="2944368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4064" y="29809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7183" y="2944368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9809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LINE 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63456" y="2944368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6608" y="29809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P&amp;ID 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383280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2" y="3419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FLUID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0912" y="3383280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4064" y="3419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SIGNAL 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87183" y="3383280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3419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JUNCTION BOX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63456" y="3383280"/>
            <a:ext cx="201168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36608" y="3419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☑  PANEL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069080"/>
            <a:ext cx="8869680" cy="73152"/>
          </a:xfrm>
          <a:prstGeom prst="rect">
            <a:avLst/>
          </a:prstGeom>
          <a:solidFill>
            <a:srgbClr val="DD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34640" y="4224528"/>
            <a:ext cx="4114800" cy="53035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⚡  Generate Instrument 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4224528"/>
            <a:ext cx="4663440" cy="530352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660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⬇️  Download Instrument_List.xlsx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484632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A5A"/>
                </a:solidFill>
                <a:latin typeface="Calibri"/>
              </a:rPr>
              <a:t>✅  Instrument_List.xlsx generated successfully!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5897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Calibri"/>
              </a:rPr>
              <a:t>← Persistent file cache.  Switch modules without re-uploading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897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Calibri"/>
              </a:rPr>
              <a:t>One-click generation → immediate download  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Built to Handle Real-World Messiness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Robust handling of inconsistent files, naming variations, and corrupt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88920" cy="6400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Sheet Name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9164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Finds 'AI-INST ', 'ai instr', 'AI Instr' — strips spaces, hyphens,
and casing before comparing sheet names.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43000"/>
            <a:ext cx="2788920" cy="6400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Header Row Anywhere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9164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Probes rows 0–10 to find the real header row. Works when metadata
or notes occupy the first 3–5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43000"/>
            <a:ext cx="2788920" cy="6400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Corrupt Content_Types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69164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Synthesises a valid [Content_Types].xml from the ZIP manifest
when the file was 'repaired' by Excel and is missing this entry.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1430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43000"/>
            <a:ext cx="2788920" cy="6400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2618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Misspelled Column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69164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Accepts 'Tag_nummber', 'Tag No.', 'TAG NUMBER', 'tag no' — all resolve
to the same tag column automatically.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94760"/>
            <a:ext cx="278892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9136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Old .xls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34340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Detects OLE2 magic bytes and returns a clear error asking the user
to save as .xlsx — not a cryptic Python traceback.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7947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794760"/>
            <a:ext cx="278892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9136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Empty/NaN IODB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34340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Any blank or NaN value in the IODB is written as 'TBA' in the output
— engineers always see a clear placeholder, never an empty cell.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7947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94760"/>
            <a:ext cx="278892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9136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Formula Protection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34340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Any cell containing '=' in the template is never overwritten —
calculated fields remain live and correct.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7947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794760"/>
            <a:ext cx="2788920" cy="6400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39136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Drawing Preservation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343400"/>
            <a:ext cx="2578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5"/>
                </a:solidFill>
                <a:latin typeface="Calibri"/>
              </a:rPr>
              <a:t>ZIP-level XML injection copies P&amp;ID symbols, connector lines, and
text boxes to every generated sheet — shapes never disappear.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8F0"/>
                </a:solidFill>
                <a:latin typeface="Calibri"/>
              </a:rPr>
              <a:t>Planned enhancements to further extend platform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033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3320" cy="47548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887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 ✅ 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Instrument List Generator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I/O List Generator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Datasheet Generator (batch, ZIP)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Cable Schedule Generator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Loop Wiring Generator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Session-state file caching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✓  Robust edge-case handling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43000"/>
            <a:ext cx="37033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3703320" cy="47548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1887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2  🔄  Next 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◎  PDF export option for datasheets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◎  Multi-template support per module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◎  Tag filter / search within modules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◎  Inline IODB edit &amp; live preview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◎  Automatic revision numbering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◎  Email / Teams delivery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37033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703320" cy="475488"/>
          </a:xfrm>
          <a:prstGeom prst="rect">
            <a:avLst/>
          </a:prstGeom>
          <a:solidFill>
            <a:srgbClr val="6B3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1887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3  🔮  Future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◇  Cloud deployment (Streamlit Cloud)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◇  Role-based access control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◇  Change-tracking between IODB versions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◇  Integration with project database (SQL)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◇  AI-assisted column mapping suggestions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1E2E"/>
                </a:solidFill>
                <a:latin typeface="Calibri"/>
              </a:rPr>
              <a:t>◇  Approval workflow with e-stamp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63854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8F0"/>
                </a:solidFill>
                <a:latin typeface="Calibri"/>
              </a:rPr>
              <a:t>Instrumentation EZ  |  Internal Presentation  |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2194560"/>
          </a:xfrm>
          <a:prstGeom prst="rect">
            <a:avLst/>
          </a:prstGeom>
          <a:solidFill>
            <a:srgbClr val="12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88952" cy="10972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548640"/>
            <a:ext cx="3200400" cy="3200400"/>
          </a:xfrm>
          <a:prstGeom prst="ellipse">
            <a:avLst/>
          </a:prstGeom>
          <a:solidFill>
            <a:srgbClr val="2D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4873752" cy="64008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5D8F0"/>
                </a:solidFill>
                <a:latin typeface="Calibri"/>
              </a:rPr>
              <a:t>Instrumentation EZ — 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97480"/>
            <a:ext cx="85313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>
                <a:solidFill>
                  <a:srgbClr val="C5D8F0"/>
                </a:solidFill>
                <a:latin typeface="Calibri"/>
              </a:rPr>
              <a:t>✦  5 automation modules covering all key instrumentation deliverables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C5D8F0"/>
                </a:solidFill>
                <a:latin typeface="Calibri"/>
              </a:rPr>
              <a:t>✦  ~170 engineering hours saved per 100-instrument project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C5D8F0"/>
                </a:solidFill>
                <a:latin typeface="Calibri"/>
              </a:rPr>
              <a:t>✦  Zero transcription errors — data flows directly from IODB to output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C5D8F0"/>
                </a:solidFill>
                <a:latin typeface="Calibri"/>
              </a:rPr>
              <a:t>✦  Preserves all template formatting, formulas, shapes, and drawings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C5D8F0"/>
                </a:solidFill>
                <a:latin typeface="Calibri"/>
              </a:rPr>
              <a:t>✦  Runs immediately — no database, no server setup, no IT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8CC"/>
                </a:solidFill>
                <a:latin typeface="Calibri"/>
              </a:rPr>
              <a:t>Built with  Python  ·  Streamlit  ·  openpyxl  |  GitHub: AdithyaChoudhry/IEZ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Questions? 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