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2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Instrumentation 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8EE"/>
                </a:solidFill>
                <a:latin typeface="Calibri Light"/>
              </a:rPr>
              <a:t>Automated Engineering Document Generation &amp; IODB Validation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017520"/>
            <a:ext cx="5303520" cy="45720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8CC"/>
                </a:solidFill>
                <a:latin typeface="Calibri"/>
              </a:rPr>
              <a:t>Presented to: Management &amp; Executive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90B0"/>
                </a:solidFill>
                <a:latin typeface="Calibri"/>
              </a:rPr>
              <a:t>April 2026  |  Instrumentation Engineering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75488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809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Instrument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475488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4809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I/O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8696" y="475488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4809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34924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4041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Cable Schedule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1528" y="534924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54041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Loop Wiring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68696" y="5349240"/>
            <a:ext cx="2331720" cy="457200"/>
          </a:xfrm>
          <a:prstGeom prst="rect">
            <a:avLst/>
          </a:prstGeom>
          <a:solidFill>
            <a:srgbClr val="1E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54041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IODB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What we will cover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" y="1399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80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099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Business case and purpose of the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399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280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099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Current challenges in instrumentation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8600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5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3317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Solution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7614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Introduction to Instrumentation 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28600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317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System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614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How the platform is structured and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3756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3756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5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38327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Module Deep-Dives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813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Instrument List · I/O List · Data Sheet · Cable Schedule · Loop Wiring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33756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33756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8327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IODB Validation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813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How validation works, error detection, Excel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8912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38912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5" y="4553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Key Benefits &amp; 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646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Quantified time savings and quality gains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389120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389120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216" y="4553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Demo Walkthrough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8646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Live demonstration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440679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440679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5" y="56052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48639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Future Roadmap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91616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Planned enhancements and scalability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440679"/>
            <a:ext cx="56692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5440679"/>
            <a:ext cx="502920" cy="8961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0216" y="56052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48639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Conclusion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91616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Business impact and next steps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Instrumentation EZ — purpose, scope, and business value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7132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7132320" cy="54864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1B5EA7"/>
                </a:solidFill>
                <a:latin typeface="Calibri"/>
              </a:rPr>
              <a:t>What is it?  </a:t>
            </a:r>
            <a:r>
              <a:rPr sz="1200">
                <a:solidFill>
                  <a:srgbClr val="333A45"/>
                </a:solidFill>
                <a:latin typeface="Calibri"/>
              </a:rPr>
              <a:t>Instrumentation EZ is an internal web-based platform that automates the generation and validation of engineering documents directly from the Instrument &amp; Operations Database (IODB).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B5EA7"/>
                </a:solidFill>
                <a:latin typeface="Calibri"/>
              </a:rPr>
              <a:t>Why does it exist?  </a:t>
            </a:r>
            <a:r>
              <a:rPr sz="1200">
                <a:solidFill>
                  <a:srgbClr val="333A45"/>
                </a:solidFill>
                <a:latin typeface="Calibri"/>
              </a:rPr>
              <a:t>Engineering teams spend 60-70% of document-preparation time on manual data extraction, formatting, and cross-checking — work that is error-prone and non-value-adding. This platform eliminates that burden.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B5EA7"/>
                </a:solidFill>
                <a:latin typeface="Calibri"/>
              </a:rPr>
              <a:t>What does it do?  </a:t>
            </a:r>
            <a:r>
              <a:rPr sz="1200">
                <a:solidFill>
                  <a:srgbClr val="333A45"/>
                </a:solidFill>
                <a:latin typeface="Calibri"/>
              </a:rPr>
              <a:t>It provides 6 integrated modules: Instrument List, I/O List, Data Sheet, Cable Schedule, Loop Wiring — and an IODB Validation Engine that automatically detects data quality issues and logs them in a structured Excel report.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B5EA7"/>
                </a:solidFill>
                <a:latin typeface="Calibri"/>
              </a:rPr>
              <a:t>Who benefits?  </a:t>
            </a:r>
            <a:r>
              <a:rPr sz="1200">
                <a:solidFill>
                  <a:srgbClr val="333A45"/>
                </a:solidFill>
                <a:latin typeface="Calibri"/>
              </a:rPr>
              <a:t>Instrumentation engineers, project leads, DCS/PLC engineers, procurement, and QA teams — anyone who consumes or reviews these deliverables.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B5EA7"/>
                </a:solidFill>
                <a:latin typeface="Calibri"/>
              </a:rPr>
              <a:t>Core value:  </a:t>
            </a:r>
            <a:r>
              <a:rPr sz="1200">
                <a:solidFill>
                  <a:srgbClr val="333A45"/>
                </a:solidFill>
                <a:latin typeface="Calibri"/>
              </a:rPr>
              <a:t>One upload — five documents generated — zero transcription errors — full audit trail of IODB data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118872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9248" y="1188720"/>
            <a:ext cx="4114800" cy="6400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307592"/>
            <a:ext cx="3931920" cy="50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5EA7"/>
                </a:solidFill>
                <a:latin typeface="Calibri"/>
              </a:rPr>
              <a:t>&gt;95%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80228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Time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9919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vs. manual process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450591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2450591"/>
            <a:ext cx="4114800" cy="64008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569463"/>
            <a:ext cx="3931920" cy="50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67AB5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06415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2538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in one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9248" y="3712463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3712463"/>
            <a:ext cx="4114800" cy="6400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3831335"/>
            <a:ext cx="3931920" cy="50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7A4E"/>
                </a:solidFill>
                <a:latin typeface="Calibri"/>
              </a:rPr>
              <a:t>~0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432602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Manual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5156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with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4974336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974336"/>
            <a:ext cx="4114800" cy="64008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5093207"/>
            <a:ext cx="3931920" cy="50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B35AF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558789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Template 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57775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formats preserved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The hidden cost of manual instrumentation document preparation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749039" cy="6400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Time-Intensive 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Copy-pasting data from IODB into every document type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A single Datasheet takes 15-30 minutes to prepare manually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- 100 instruments = 3-4 weeks of engineering time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Every IODB revision requires full rework of all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64008"/>
          </a:xfrm>
          <a:prstGeom prst="rect">
            <a:avLst/>
          </a:prstGeom>
          <a:solidFill>
            <a:srgbClr val="B3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9844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High Error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2880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Transcription errors undetected until client review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Inconsistencies between Instrument List and Cable Schedule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Missing values left blank instead of flagged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No systematic data quality check across the IODB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88720"/>
            <a:ext cx="3749039" cy="64008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29844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No Standardisation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Different engineers produce differently formatted documents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Template versions mismatched across project phases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No traceability between IODB version and output document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06A78"/>
                </a:solidFill>
                <a:latin typeface="Calibri"/>
              </a:rPr>
              <a:t>- Rework caused by late detection of upstream data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355080"/>
            <a:ext cx="1156716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733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5D8F0"/>
                </a:solidFill>
                <a:latin typeface="Calibri"/>
              </a:rPr>
              <a:t>Industry data: Manual document preparation accounts for up to 40% of engineering labour on mid-size projects — the highest non-value-adding activity on 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Solution Overview — Instrumentation 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A single platform that turns raw IODB data into finished, formatted engineering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1567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4E"/>
                </a:solidFill>
                <a:latin typeface="Calibri Light"/>
              </a:rPr>
              <a:t>Upload once.  Generate everything.  Validate instantly.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6720840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1691640" cy="1371600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Upload
IODB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487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A7"/>
                </a:solidFill>
                <a:latin typeface="Calibri Light"/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2011680"/>
            <a:ext cx="1691640" cy="1371600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59" y="2057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Select
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487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A7"/>
                </a:solidFill>
                <a:latin typeface="Calibri Light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59" y="2011680"/>
            <a:ext cx="1691640" cy="137160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2057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Configure
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487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A7"/>
                </a:solidFill>
                <a:latin typeface="Calibri Light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011680"/>
            <a:ext cx="1691640" cy="1371600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057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487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A7"/>
                </a:solidFill>
                <a:latin typeface="Calibri Light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011680"/>
            <a:ext cx="1691640" cy="1371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057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Download
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57600"/>
            <a:ext cx="3657600" cy="5303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Instrument 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7" y="3657600"/>
            <a:ext cx="3657600" cy="530352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I/O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5" y="3657600"/>
            <a:ext cx="3657600" cy="530352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7303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Sheet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15968"/>
            <a:ext cx="3657600" cy="530352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4074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Cable Schedule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7" y="4315968"/>
            <a:ext cx="3657600" cy="5303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44074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Loop Wiring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5" y="4315968"/>
            <a:ext cx="3657600" cy="530352"/>
          </a:xfrm>
          <a:prstGeom prst="rect">
            <a:avLst/>
          </a:prstGeom>
          <a:solidFill>
            <a:srgbClr val="B3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44074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IODB Validation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355080"/>
            <a:ext cx="11567160" cy="34747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733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A78"/>
                </a:solidFill>
                <a:latin typeface="Calibri"/>
              </a:rPr>
              <a:t>Built with Python 3.14 · Streamlit · openpyxl · pandas  |  Runs in any browser — no installation required for end users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Clean four-layer design — easy to extend, maintain, and 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417320" cy="1143000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51790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243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main.py  —  Streamlit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0078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Module selector · File upload widgets · Progress indicators · Preview tables · Download buttons · Session-state file caching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3317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96312"/>
            <a:ext cx="11567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96312"/>
            <a:ext cx="1417320" cy="1143000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84378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ORCHESTRATION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694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utils/template_processor.py  —  Pipeline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2666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Reads and parses uploaded files · Invokes the correct generator · Validates data shapes · Bundles multi-file ZIP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6576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22191"/>
            <a:ext cx="11567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22191"/>
            <a:ext cx="1417320" cy="114300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4169663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895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utils/file_handler.py  —  Robust File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35254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Auto-detects sheet name &amp; header row · Fuzzy column matching · Content_Types.xml auto-repair · .xls format detection &amp;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498347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48072"/>
            <a:ext cx="11567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48072"/>
            <a:ext cx="1417320" cy="1143000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549554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GENERATION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2212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4E"/>
                </a:solidFill>
                <a:latin typeface="Calibri"/>
              </a:rPr>
              <a:t>utils/generators.py  —  Document &amp; Validation Engines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67842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5 document generators + 1 IODB Validation engine · Formula preservation · Drawing/shape injection · TBA safety 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A7"/>
                </a:solidFill>
                <a:latin typeface="Calibri Light"/>
              </a:rPr>
              <a:t>INPUT  -&gt;  IODB.xlsx  +  Template.xlsx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6419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7A4E"/>
                </a:solidFill>
                <a:latin typeface="Calibri Light"/>
              </a:rPr>
              <a:t>OUTPUT  -&gt;  .xlsx / .zip  — Ready for issue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Platform Modules —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Five automated document generators + one validation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794760" cy="40233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16152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01  Instrument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4592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Exports any selected IODB columns as a
clean, formatted Excel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249631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877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3-4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587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&lt; 5 sec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17043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170432"/>
            <a:ext cx="3794760" cy="402336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1216152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02  I/O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164592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Auto-suggests I/O columns; produces
a DCS/PLC-ready signal register.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7" y="249631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7" y="25877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4-6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2587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&lt; 5 sec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9" y="117043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1170432"/>
            <a:ext cx="3794760" cy="402336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1216152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03  Data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164592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Per-tag datasheets from template;
batch ZIP export for all tags.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85047" y="249631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7" y="25877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15-30 min/tag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2587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~2 sec/tag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7647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776472"/>
            <a:ext cx="3794760" cy="402336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3822191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04  Cable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425196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JB-grouped, naturally sorted,
SPARE-padded cable schedule.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" y="510235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51937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1-2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193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&lt; 30 sec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77647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79" y="3776472"/>
            <a:ext cx="3794760" cy="402336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7" y="3822191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05  Loop Wiring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7" y="425196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Per-tag loop sheets; shapes, lines
and formulas fully preserved.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7" y="510235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7407" y="51937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30-60 min/tag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19" y="5193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~3 sec/tag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3776472"/>
            <a:ext cx="379476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776472"/>
            <a:ext cx="3794760" cy="402336"/>
          </a:xfrm>
          <a:prstGeom prst="rect">
            <a:avLst/>
          </a:prstGeom>
          <a:solidFill>
            <a:srgbClr val="B3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5047" y="3822191"/>
            <a:ext cx="3584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06  IODB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7" y="4251960"/>
            <a:ext cx="3584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A45"/>
                </a:solidFill>
                <a:latin typeface="Calibri"/>
              </a:rPr>
              <a:t>Scans entire IODB; logs every error
with location + type + description.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5047" y="5102352"/>
            <a:ext cx="358444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7" y="51937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2020"/>
                </a:solidFill>
                <a:latin typeface="Calibri"/>
              </a:rPr>
              <a:t>Before: Manual 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59" y="5193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B7A4E"/>
                </a:solidFill>
                <a:latin typeface="Calibri"/>
              </a:rPr>
              <a:t>After: &lt; 10 sec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Module Deep-Dive: Data Sheet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Batch-generate fully formatted instrument datasheets — one per tag — from IODB + 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394960" cy="38404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16152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27632"/>
            <a:ext cx="517550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Upload IODB source + Datasheet template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Engine maps template labels to IODB columns using fuzzy matching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 each selected tag: copy template, fill matched cells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Formula cells are never overwritten — calculated fields stay live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Empty IODB values written as 'TBA' (never left blank)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All datasheets packaged into Datasheets.zip for one-click download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170432"/>
            <a:ext cx="5943600" cy="384048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1216152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Matching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1627632"/>
            <a:ext cx="5724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'Line Size (NB)' in template auto-maps to 'line size' in IODB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Works across any template format — no manual column mapping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Header row auto-detected even if data starts at row 3-6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Partial / substring match as fallback for non-standard names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Case-insensitive across all comparisons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394960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388620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297680"/>
            <a:ext cx="517550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- 100 datasheets in &lt; 4 minutes vs. ~50 hours manually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Zero transcription errors — IODB is the single source of truth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Engineers focus on engineering, not copy-paste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Re-run instantly on any IODB revision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Consistent formatting across every tag and every 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3840480"/>
            <a:ext cx="5943600" cy="38404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7608" y="3886200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Supported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4297680"/>
            <a:ext cx="572414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IFC (Issued for Construction) datasheet packages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As-built datasheet generation post-commissioning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Bid / tender datasheet packages for vendor inquiry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Internal review packs for engineering sign-off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Client deliverable compilation for project handover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Module Deep-Dive: Cable Schedule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Junction-box-grouped, naturally sorted, SPARE-padded cable schedule — in under 30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7406640" cy="38404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16152"/>
            <a:ext cx="7187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27632"/>
            <a:ext cx="718718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1 — Load IODB, auto-detect 'Junction Box' and 'Tag No' columns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2 — Filter out tags with JB = '-' (unassigned / field instruments)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3 — Group all tags by Junction Box reference number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4 — Natural-sort each JB group (1, 2, 3 ... 10, not 1, 10, 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5 — Pad each group to 12 rows with SPARE entries (field-change buffer)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6 — Match IODB column names to template headers dynamically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7 — Fill template rows; preserve all borders, merged cells, row heights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8 — Adjust formula row references when rows are inserted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9 — Compact output by removing blank spacer rows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STEP 10 — Apply Arial 12 centre-wrap formatting to all data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170432"/>
            <a:ext cx="3931920" cy="38404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216152"/>
            <a:ext cx="37124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Engineering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627632"/>
            <a:ext cx="3712463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Mirrors physical wiring layout in the field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SPARE rows allow field changes without rework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Formula breakage on row insert — solved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Multi-JB project: all scheduled in one run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Output: IFC-ready Cable_Schedule.xlsx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794760"/>
            <a:ext cx="3931920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3840480"/>
            <a:ext cx="37124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Time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4251960"/>
            <a:ext cx="3712463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Manual:  1-2 days per revision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With tool:  &lt; 30 seconds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Re-run cost after IODB change: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  Manual:  Full rework (hours)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  With tool:  Re-click (seconds)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Module Deep-Dive: Loop Wiring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Per-tag loop sheets with shapes, connectors, and formulas fully preserved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577840" cy="38404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16152"/>
            <a:ext cx="53583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27632"/>
            <a:ext cx="535838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Upload Loop Wiring Input file (tag list + instrument data)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Locate 'AI Instr' sheet in template (tolerant name matching)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Read column headers from Row 18, columns W to AR (22 fields)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 each tag: copy_worksheet() — full template duplication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Fill Row 19 (W to AR) with matched values from input file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Formula cells never overwritten — all live calculations preserved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Empty values written as 'TBA' — no blank cells in output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Sheet named 'Loop_&lt;TagNumber&gt;' for clear navigation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Tolerant matching: 'AI-INST ', 'ai instr', 'AI Instr' all work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Output: Loop_Wiring.xlsx with one tab per instrument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70432"/>
            <a:ext cx="5715000" cy="384048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216152"/>
            <a:ext cx="5495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Drawing &amp; Shape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27632"/>
            <a:ext cx="54955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openpyxl copy_worksheet() preserves native shapes &amp; styles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For complex drawings (connectors, P&amp;ID symbols, text boxes)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that openpyxl cannot round-trip: ZIP-level XML injection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Drawing XML copied directly into output ZIP after save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Every generated sheet retains the original template drawings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715000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3886200"/>
            <a:ext cx="5495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297680"/>
            <a:ext cx="549554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- 100-tag loop wiring set: ~5 mins vs. ~80 hrs manually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No risk of missing fields — TBA ensures full coverage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Template revision: re-run with new template — done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Consistent sheet naming aids document control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333A45"/>
                </a:solidFill>
                <a:latin typeface="Calibri"/>
              </a:rPr>
              <a:t>- Directly usable as field loop folder / commissioning pack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IODB Validation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Automated data quality analysis — catch every error before it reaches a drawing or document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6858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The IODB is the single source of truth for all engineering documents. A single error propagates into every output — Validation stops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3749039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49039" cy="6400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  <a:latin typeface="Calibri"/>
              </a:rPr>
              <a:t>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A78"/>
                </a:solidFill>
                <a:latin typeface="Calibri"/>
              </a:rPr>
              <a:t>Reads the entire IODB and inspects every row and column for completeness, format compliance, and cross-field consistency.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011680"/>
            <a:ext cx="3749039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011680"/>
            <a:ext cx="3749039" cy="6400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  <a:latin typeface="Calibri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947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A78"/>
                </a:solidFill>
                <a:latin typeface="Calibri"/>
              </a:rPr>
              <a:t>Applies a rule library to identify: missing mandatory fields, duplicate tag numbers, invalid signal types, format violations, and cross-reference mismatches.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2011680"/>
            <a:ext cx="3749039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2011680"/>
            <a:ext cx="3749039" cy="6400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  <a:latin typeface="Calibri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A78"/>
                </a:solidFill>
                <a:latin typeface="Calibri"/>
              </a:rPr>
              <a:t>Generates a structured Excel log with exact cell location (sheet, row, column), error type, severity level, and a plain-English description of what is wrong and why.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IODB Validation —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Step-by-step validation logic from raw IODB to error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502920" cy="9875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08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243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STEP 1: Load &amp; 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A78"/>
                </a:solidFill>
                <a:latin typeface="Calibri"/>
              </a:rPr>
              <a:t>IODB uploaded — auto-detect sheet name, header row, and column structure — DataFrame built in memory with all rows and columns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176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67712"/>
            <a:ext cx="115671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267712"/>
            <a:ext cx="502920" cy="987552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5054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408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STEP 2: Schema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43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A78"/>
                </a:solidFill>
                <a:latin typeface="Calibri"/>
              </a:rPr>
              <a:t>Verify mandatory columns are present (TAG NO, SERVICE, SIGNAL TYPE, JB, P&amp;ID) — Flag any missing or misnamed columns as schema-level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64991"/>
            <a:ext cx="115671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64991"/>
            <a:ext cx="502920" cy="987552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6027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381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STEP 3: Row-Level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4047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A78"/>
                </a:solidFill>
                <a:latin typeface="Calibri"/>
              </a:rPr>
              <a:t>For every data row: check for empty mandatory fields, duplicate tag numbers, invalid IO types, out-of-range values, and format violations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43708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62272"/>
            <a:ext cx="115671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02920" cy="987552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4700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354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STEP 4: Cross-Reference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37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A78"/>
                </a:solidFill>
                <a:latin typeface="Calibri"/>
              </a:rPr>
              <a:t>Cross-validate field relationships: tag appears in loop but not cable schedule, JB assigned but no cable number, signal type conflicts with IO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54681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A7"/>
                </a:solidFill>
                <a:latin typeface="Calibri Light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59552"/>
            <a:ext cx="115671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559552"/>
            <a:ext cx="502920" cy="9875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5797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327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  <a:latin typeface="Calibri"/>
              </a:rPr>
              <a:t>STEP 5: Report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A78"/>
                </a:solidFill>
                <a:latin typeface="Calibri"/>
              </a:rPr>
              <a:t>Compile all findings — write structured Excel report with: Sheet, Row, Column, Error Type, Severity (Critical / Warning / Info), Description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IODB Validation — Error Types &amp; Report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Every issue captured with location, type, severity, and plain-English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3657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9786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Error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19786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19786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19786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Business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36192"/>
            <a:ext cx="11567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9105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Missing Mandatory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5910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91056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TAG NO empty, SERVICE blank, SIGNAL TYPE not filled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591056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Document generation produces TBA everywhere; unacceptable for IFC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49424"/>
            <a:ext cx="11567160" cy="65836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042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Duplicate Tag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30428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304288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Same TAG NO appears on two rows in the IODB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04288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Two instruments with same tag — wiring conflict, commissioning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62656"/>
            <a:ext cx="11567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17520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Invalid Signal/IO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017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017520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Signal type not in approved list (e.g. 'ANALOG OUT' spelled wrong)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01752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DCS I/O assignment fails; loop wiring sheet mismatch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75887"/>
            <a:ext cx="11567160" cy="65836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30751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Cross-Reference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730751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3730751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Tag in Loop Input not found in Cable Schedule section of IODB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730751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Missing cable entries discovered late — delays field 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389120"/>
            <a:ext cx="11567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443983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Format Violations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443983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443983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JB number format incorrect, P&amp;ID reference format wrong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443983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Document control rejections; non-conformance at client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02352"/>
            <a:ext cx="11567160" cy="65836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5721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Orphaned JB References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15721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5157216"/>
            <a:ext cx="4069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JB assigned to tag but JB has no corresponding schedule entry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157216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A78"/>
                </a:solidFill>
                <a:latin typeface="Calibri"/>
              </a:rPr>
              <a:t>Field installation cannot proceed without correct JB schedule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IODB Validation — Sample Report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Structured Excel log — exact location, clear description, actionable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38404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9786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Row 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978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978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1978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Error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19786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1978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54480"/>
            <a:ext cx="115671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0934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60934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6093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093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Missing Mandatory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093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0934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Cell is blank. SERVICE is required for datasheet generation.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21991"/>
            <a:ext cx="11567160" cy="6035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27685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2768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2768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TAG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276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Duplicate Tag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2768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2768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200-PT-20102 appears on rows 27 and 43. Tag numbers must be unique.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89504"/>
            <a:ext cx="115671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4436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2944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2944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SIGNAL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9443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Invalid Enumeration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944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9443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'ANLAOG IN' is not a recognised signal type. Did you mean 'ANALOG IN'?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57015"/>
            <a:ext cx="11567160" cy="6035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611879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611879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361187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JUNCTION 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6118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Cross-Ref Mismatch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61187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Warning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61187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Tag 200-FIT-20105 references JB-03 but no cable entry found for JB-03.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24528"/>
            <a:ext cx="115671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27939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61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2793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4279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P&amp;ID 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279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Format Violation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2793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Info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2793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P&amp;ID reference '1234-E-5678-001' does not match expected format.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92040"/>
            <a:ext cx="11567160" cy="6035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946903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78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4946903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4946903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LOOP 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946903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Empty Recommended Field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94690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Info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4946903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LOOP NO is blank. Loop wiring sheet will be generated without loop reference.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559552"/>
            <a:ext cx="115671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61441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561441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IODB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561441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 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56144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Inconsistency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56144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Warning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3960" y="5614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5"/>
                </a:solidFill>
                <a:latin typeface="Calibri"/>
              </a:rPr>
              <a:t>IO TYPE = 'DO' but SIGNAL TYPE = 'ANALOG IN'. These are contradictory.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263640"/>
            <a:ext cx="11567160" cy="32004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2819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A78"/>
                </a:solidFill>
                <a:latin typeface="Calibri"/>
              </a:rPr>
              <a:t>Report saved as  IODB_Validation_Report.xlsx  — shareable with project team and QA lead for resolution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Key Benefits &amp; Return on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Quantified impact across a typical 200-instrument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70432"/>
            <a:ext cx="221284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170432"/>
            <a:ext cx="2212848" cy="6400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89304"/>
            <a:ext cx="2029967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5EA7"/>
                </a:solidFill>
                <a:latin typeface="Calibri"/>
              </a:rPr>
              <a:t>&gt;95%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3487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Time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71151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Document prep from weeks
to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7" y="1170432"/>
            <a:ext cx="221284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4327" y="1170432"/>
            <a:ext cx="2212848" cy="64008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289304"/>
            <a:ext cx="2029967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67AB5"/>
                </a:solidFill>
                <a:latin typeface="Calibri"/>
              </a:rPr>
              <a:t>~170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193487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Hrs /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171151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Saved per 100-instrument
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1170432"/>
            <a:ext cx="221284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6048" y="1170432"/>
            <a:ext cx="2212848" cy="6400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289304"/>
            <a:ext cx="2029967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7A4E"/>
                </a:solidFill>
                <a:latin typeface="Calibri"/>
              </a:rPr>
              <a:t>~0%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193487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Error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171151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Transcription errors
eliminated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1170432"/>
            <a:ext cx="221284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7768" y="1170432"/>
            <a:ext cx="2212848" cy="6400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208" y="1289304"/>
            <a:ext cx="2029967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5F10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193487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Template Fidelity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171151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All formats, formulas &amp;
shapes preserved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9488" y="1170432"/>
            <a:ext cx="221284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1170432"/>
            <a:ext cx="2212848" cy="640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1289304"/>
            <a:ext cx="2029967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2B4E"/>
                </a:solidFill>
                <a:latin typeface="Calibri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193487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E"/>
                </a:solidFill>
                <a:latin typeface="Calibri"/>
              </a:rPr>
              <a:t>Re-Runs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171151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A78"/>
                </a:solidFill>
                <a:latin typeface="Calibri"/>
              </a:rPr>
              <a:t>Re-generate any time the
IODB 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697480"/>
            <a:ext cx="11567160" cy="38404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724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Deliverable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Manual Effort (100 instr)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With This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724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Saving per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081528"/>
            <a:ext cx="11567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1363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Instrument 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3-4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5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136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~3.5 hours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575304"/>
            <a:ext cx="11567160" cy="457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30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I/O 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6301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4-6 hours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36301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5 seconds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630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~5 hours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069080"/>
            <a:ext cx="11567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239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Data Sheets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4123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50-80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123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1 hour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1239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~65 hours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562856"/>
            <a:ext cx="11567160" cy="457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Cable Schedule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16-24 hours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0.5 hours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~20 hours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056632"/>
            <a:ext cx="11567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1114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Loop Wiring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1114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50-100 hours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51114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1 hour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51114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~75 hours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550408"/>
            <a:ext cx="11567160" cy="457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6052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IODB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5605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Manual audit (if done at all)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5605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&lt; 10 sec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56052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5"/>
                </a:solidFill>
                <a:latin typeface="Calibri"/>
              </a:rPr>
              <a:t>Defect prevention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6044184"/>
            <a:ext cx="11567160" cy="4572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6099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29000" y="6099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~120-200 hours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6099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~3 hours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6099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  <a:latin typeface="Calibri"/>
              </a:rPr>
              <a:t>~170 hours saved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Live Demo — Walkthrough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How to demonstrate the tool in 8 minutes for a management audience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2834640" cy="40233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2529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Open the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8249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Navigate to the Streamlit URL in any browser — no login, no install.
Show the clean header, sidebar navigation, and module list.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70432"/>
            <a:ext cx="2834640" cy="402336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22529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Upload IODB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68249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Upload IODB.xlsx once.
Show the green 'Loaded Files' indicator — file persists across all modules.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70432"/>
            <a:ext cx="2834640" cy="402336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22529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Instrument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68249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Select 5-6 key columns, click Generate, download instantly.
Open the file to show correct data and formatting.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170432"/>
            <a:ext cx="2834640" cy="402336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122529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4. Data 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168249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Upload Datasheet template, select 3 tags, Generate, download ZIP.
Open one .xlsx — show all fields filled, formulas intact.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76472"/>
            <a:ext cx="2834640" cy="402336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831335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5. Cable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28853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Upload CS template, click Generate, open output.
Show natural-sorted JBs, SPARE rows, and preserved formatting.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776472"/>
            <a:ext cx="2834640" cy="402336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3831335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6. IODB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428853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Click Validate — completes in &lt; 10 seconds.
Open IODB_Validation_Report.xlsx — walk through a Critical error row.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76472"/>
            <a:ext cx="2834640" cy="402336"/>
          </a:xfrm>
          <a:prstGeom prst="rect">
            <a:avLst/>
          </a:prstGeom>
          <a:solidFill>
            <a:srgbClr val="B3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831335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7. Highlight a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28853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Fix the flagged error in the IODB, re-upload, re-validate.
Show the error disappears — close the feedback loop live.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776472"/>
            <a:ext cx="2834640" cy="402336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7" y="3831335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8.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7" y="4288536"/>
            <a:ext cx="2633472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Recap: same IODB, 5 documents + validation report — all in under 5 minutes.
Ask: 'How long would this take manually?'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Future Roadmap &amp;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The platform is designed to grow — new modules, cloud deployment, and AI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794760" cy="438912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216152"/>
            <a:ext cx="3584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—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737360"/>
            <a:ext cx="358444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Instrument List Generator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I/O List Generator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Data Sheet Generator (batch ZIP)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Cable Schedule Generator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Loop Wiring Generator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IODB Validation Engine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Session-state file caching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Robust edge-case 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70432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70432"/>
            <a:ext cx="3794760" cy="4389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5" y="1216152"/>
            <a:ext cx="3584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2 — Next 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5" y="1737360"/>
            <a:ext cx="358444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Enhanced validation rule library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PDF export option for datasheets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Multi-template support per module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Automatic revision tracking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Inline IODB edit and re-validate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Email / MS Teams delivery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User activity log for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170432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170432"/>
            <a:ext cx="3794760" cy="43891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216152"/>
            <a:ext cx="3584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3 — Strategic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737360"/>
            <a:ext cx="358444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Cloud deployment (Streamlit Cloud / Azure)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Role-based access control (RBAC)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Integration with project database (SQL)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IODB change-diff between revisions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AI-assisted column mapping &amp; suggestions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Approval workflow with digital stamp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Multi-project / multi-discipline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Built for the Real World — Technical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Designed to handle inconsistent files, naming variations, and edge cases gracefully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2834640" cy="64008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984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Auto Sheet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3736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Tries exact, case-insensitive, then substring match. 'AI-INST ', 'AI Instr', 'ai instr' all resolve correctly.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70432"/>
            <a:ext cx="2834640" cy="64008"/>
          </a:xfrm>
          <a:prstGeom prst="rect">
            <a:avLst/>
          </a:prstGeom>
          <a:solidFill>
            <a:srgbClr val="26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2984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Header Row Auto-Detection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73736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Probes rows 0-10 per sheet; scored by tag-column presence and non-empty column count. Works with metadata-heavy 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70432"/>
            <a:ext cx="2834640" cy="6400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2984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Fuzzy Column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73736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Template labels matched to IODB headers via normalised substring comparison — no manual mapping ever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17043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170432"/>
            <a:ext cx="2834640" cy="64008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12984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Content_Types.xml 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173736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Synthesises a valid [Content_Types].xml from the ZIP manifest when a template was repaired by Excel and is corrupt.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76472"/>
            <a:ext cx="2834640" cy="640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904487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Formula Preservation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34340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Every generator checks for '=' prefix before writing. Calculated fields remain live and correct in every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776472"/>
            <a:ext cx="2834640" cy="64008"/>
          </a:xfrm>
          <a:prstGeom prst="rect">
            <a:avLst/>
          </a:prstGeom>
          <a:solidFill>
            <a:srgbClr val="B3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3904487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Drawing / Shape Injection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434340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ZIP-level XML copy injects complex drawings (connectors, P&amp;ID symbols) that openpyxl cannot round-trip natively.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76472"/>
            <a:ext cx="2834640" cy="64008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904487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Column Name Tolerance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34340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'Tag_nummber', 'Tag No.', 'TAG NUMBER' — all auto-resolve to the same tag column. No user action needed.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776472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776472"/>
            <a:ext cx="2834640" cy="64008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7" y="3904487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  <a:latin typeface="Calibri"/>
              </a:rPr>
              <a:t>File Format Guard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7" y="4343400"/>
            <a:ext cx="2633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78"/>
                </a:solidFill>
                <a:latin typeface="Calibri"/>
              </a:rPr>
              <a:t>Old .xls (OLE2) files detected by magic bytes and rejected with a clear 'Please save as .xlsx' message — not a crash.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Conclusion — Business Impact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E"/>
                </a:solidFill>
                <a:latin typeface="Calibri"/>
              </a:rPr>
              <a:t>Instrumentation EZ delivers measurable, lasting value across every project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1567160" cy="6583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This platform fundamentally changes how instrumentation engineering documents are produced — faster, error-free, and production-ready from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3749039" cy="43891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9659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4688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Document turnaround from days to minutes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~170 engineering hours saved per project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Re-generation on IODB change costs zero extra effort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All 5 document types from a single data upload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Zero manual formatting — template fidelity guaranteed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20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920240"/>
            <a:ext cx="3749039" cy="438912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5" y="19659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Quality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5" y="24688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Transcription errors eliminated by design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IODB Validation catches data issues at source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TBA safety net — no blank cells in any output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Consistent document style across all engineers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Audit trail: validation report documents QA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920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920240"/>
            <a:ext cx="3749039" cy="438912"/>
          </a:xfrm>
          <a:prstGeom prst="rect">
            <a:avLst/>
          </a:prstGeom>
          <a:solidFill>
            <a:srgbClr val="C95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9659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Strategic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4688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Frees senior engineers for value-added work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Reduced rework cost at client review stage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Platform scales to any project size instantly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Foundation for future AI and cloud integration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333A45"/>
                </a:solidFill>
                <a:latin typeface="Calibri"/>
              </a:rPr>
              <a:t>- Competitive advantage in tender &amp; execution 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373368"/>
            <a:ext cx="11567160" cy="320040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91656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Recommended Next Step: Approve platform for live project deployment and initiate Phase 2 enhancements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A8C4"/>
                </a:solidFill>
                <a:latin typeface="Calibri"/>
              </a:rPr>
              <a:t>Instrumentation EZ  |  Internal Presentation  |  2026  | 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2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00" cy="54864"/>
          </a:xfrm>
          <a:prstGeom prst="rect">
            <a:avLst/>
          </a:prstGeom>
          <a:solidFill>
            <a:srgbClr val="1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C8EE"/>
                </a:solidFill>
                <a:latin typeface="Calibri Light"/>
              </a:rPr>
              <a:t>Instrumentation EZ —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50">
                <a:solidFill>
                  <a:srgbClr val="C5D8F0"/>
                </a:solidFill>
                <a:latin typeface="Calibri"/>
              </a:rPr>
              <a:t>◆  6 integrated modules — document generation and data validation in one platform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C5D8F0"/>
                </a:solidFill>
                <a:latin typeface="Calibri"/>
              </a:rPr>
              <a:t>◆  ~170 engineering hours saved per 100-instrument project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C5D8F0"/>
                </a:solidFill>
                <a:latin typeface="Calibri"/>
              </a:rPr>
              <a:t>◆  IODB Validation catches data errors before they reach any deliverable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C5D8F0"/>
                </a:solidFill>
                <a:latin typeface="Calibri"/>
              </a:rPr>
              <a:t>◆  Zero transcription errors — all outputs flow directly from IODB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C5D8F0"/>
                </a:solidFill>
                <a:latin typeface="Calibri"/>
              </a:rPr>
              <a:t>◆  Built for extensibility — cloud, AI, and workflow integration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0B0"/>
                </a:solidFill>
                <a:latin typeface="Calibri"/>
              </a:rPr>
              <a:t>Built with  Python · Streamlit · openpyxl  |  GitHub: AdithyaChoudhry/IEZ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